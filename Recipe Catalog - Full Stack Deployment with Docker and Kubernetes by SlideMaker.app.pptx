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jpe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2.svg"/><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tags" Target="../tags/tag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2.svg"/><Relationship Id="rId15" Type="http://schemas.openxmlformats.org/officeDocument/2006/relationships/notesSlide" Target="../notesSlides/notesSlide3.xml"/><Relationship Id="rId14" Type="http://schemas.openxmlformats.org/officeDocument/2006/relationships/slideLayout" Target="../slideLayouts/slideLayout1.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tags" Target="../tags/tag4.xml"/><Relationship Id="rId10" Type="http://schemas.openxmlformats.org/officeDocument/2006/relationships/tags" Target="../tags/tag3.xml"/><Relationship Id="rId1" Type="http://schemas.openxmlformats.org/officeDocument/2006/relationships/image" Target="../media/image18.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25.png"/><Relationship Id="rId2" Type="http://schemas.openxmlformats.org/officeDocument/2006/relationships/image" Target="../media/image2.svg"/><Relationship Id="rId1" Type="http://schemas.openxmlformats.org/officeDocument/2006/relationships/image" Target="../media/image24.png"/></Relationships>
</file>

<file path=ppt/slides/_rels/slide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27.png"/><Relationship Id="rId2" Type="http://schemas.openxmlformats.org/officeDocument/2006/relationships/image" Target="../media/image2.svg"/><Relationship Id="rId18" Type="http://schemas.openxmlformats.org/officeDocument/2006/relationships/notesSlide" Target="../notesSlides/notesSlide5.xml"/><Relationship Id="rId17" Type="http://schemas.openxmlformats.org/officeDocument/2006/relationships/slideLayout" Target="../slideLayouts/slideLayout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6.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0.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29.png"/><Relationship Id="rId2" Type="http://schemas.openxmlformats.org/officeDocument/2006/relationships/image" Target="../media/image2.svg"/><Relationship Id="rId10" Type="http://schemas.openxmlformats.org/officeDocument/2006/relationships/notesSlide" Target="../notesSlides/notesSlide6.xml"/><Relationship Id="rId1" Type="http://schemas.openxmlformats.org/officeDocument/2006/relationships/image" Target="../media/image28.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32.png"/><Relationship Id="rId2" Type="http://schemas.openxmlformats.org/officeDocument/2006/relationships/image" Target="../media/image2.svg"/><Relationship Id="rId1" Type="http://schemas.openxmlformats.org/officeDocument/2006/relationships/image" Target="../media/image31.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34.png"/><Relationship Id="rId2" Type="http://schemas.openxmlformats.org/officeDocument/2006/relationships/image" Target="../media/image2.svg"/><Relationship Id="rId1" Type="http://schemas.openxmlformats.org/officeDocument/2006/relationships/image" Target="../media/image33.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36.png"/><Relationship Id="rId2" Type="http://schemas.openxmlformats.org/officeDocument/2006/relationships/image" Target="../media/image2.svg"/><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38.png"/><Relationship Id="rId2" Type="http://schemas.openxmlformats.org/officeDocument/2006/relationships/image" Target="../media/image2.svg"/><Relationship Id="rId1" Type="http://schemas.openxmlformats.org/officeDocument/2006/relationships/image" Target="../media/image37.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40.png"/><Relationship Id="rId2" Type="http://schemas.openxmlformats.org/officeDocument/2006/relationships/image" Target="../media/image2.svg"/><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5"/>
          <a:srcRect/>
          <a:stretch>
            <a:fillRect/>
          </a:stretch>
        </p:blipFill>
        <p:spPr>
          <a:xfrm>
            <a:off x="1462405" y="895985"/>
            <a:ext cx="9267825" cy="5020310"/>
          </a:xfrm>
          <a:prstGeom prst="rect">
            <a:avLst/>
          </a:prstGeom>
        </p:spPr>
      </p:pic>
      <p:pic>
        <p:nvPicPr>
          <p:cNvPr id="5" name="Image 3" descr="preencoded.png"/>
          <p:cNvPicPr>
            <a:picLocks noChangeAspect="1"/>
          </p:cNvPicPr>
          <p:nvPr/>
        </p:nvPicPr>
        <p:blipFill>
          <a:blip r:embed="rId6"/>
          <a:srcRect/>
          <a:stretch>
            <a:fillRect/>
          </a:stretch>
        </p:blipFill>
        <p:spPr>
          <a:xfrm>
            <a:off x="1269968" y="761981"/>
            <a:ext cx="571486" cy="571486"/>
          </a:xfrm>
          <a:prstGeom prst="rect">
            <a:avLst/>
          </a:prstGeom>
        </p:spPr>
      </p:pic>
      <p:pic>
        <p:nvPicPr>
          <p:cNvPr id="6" name="Image 4" descr="preencoded.png"/>
          <p:cNvPicPr>
            <a:picLocks noChangeAspect="1"/>
          </p:cNvPicPr>
          <p:nvPr/>
        </p:nvPicPr>
        <p:blipFill>
          <a:blip r:embed="rId7"/>
          <a:srcRect/>
          <a:stretch>
            <a:fillRect/>
          </a:stretch>
        </p:blipFill>
        <p:spPr>
          <a:xfrm>
            <a:off x="3555911" y="2476438"/>
            <a:ext cx="5079873" cy="253994"/>
          </a:xfrm>
          <a:prstGeom prst="rect">
            <a:avLst/>
          </a:prstGeom>
        </p:spPr>
      </p:pic>
      <p:sp>
        <p:nvSpPr>
          <p:cNvPr id="7" name="Text 0"/>
          <p:cNvSpPr/>
          <p:nvPr/>
        </p:nvSpPr>
        <p:spPr>
          <a:xfrm>
            <a:off x="1777956" y="1498563"/>
            <a:ext cx="8635784" cy="1320767"/>
          </a:xfrm>
          <a:prstGeom prst="rect">
            <a:avLst/>
          </a:prstGeom>
          <a:noFill/>
        </p:spPr>
        <p:txBody>
          <a:bodyPr wrap="square" lIns="0" tIns="0" rIns="0" bIns="0" rtlCol="0" anchor="t"/>
          <a:lstStyle/>
          <a:p>
            <a:pPr marL="0" indent="0" algn="ctr">
              <a:lnSpc>
                <a:spcPct val="115000"/>
              </a:lnSpc>
              <a:buNone/>
            </a:pPr>
            <a:r>
              <a:rPr lang="en-US" sz="3600" b="1" dirty="0">
                <a:solidFill>
                  <a:srgbClr val="1E293B"/>
                </a:solidFill>
                <a:latin typeface="Arial" panose="020B0604020202020204" pitchFamily="34" charset="0"/>
                <a:ea typeface="Arial" panose="020B0604020202020204" pitchFamily="34" charset="-122"/>
                <a:cs typeface="Arial" panose="020B0604020202020204" pitchFamily="34" charset="-120"/>
              </a:rPr>
              <a:t>Recipe Catalog - Full Stack Deployment with Docker and Kubernetes</a:t>
            </a:r>
            <a:r>
              <a:rPr lang="en-US" sz="3600" dirty="0">
                <a:solidFill>
                  <a:srgbClr val="1E293B"/>
                </a:solidFill>
                <a:latin typeface="Arial" panose="020B0604020202020204" pitchFamily="34" charset="0"/>
                <a:ea typeface="Arial" panose="020B0604020202020204" pitchFamily="34" charset="-122"/>
                <a:cs typeface="Arial" panose="020B0604020202020204" pitchFamily="34" charset="-120"/>
              </a:rPr>
              <a:t>
</a:t>
            </a:r>
            <a:endParaRPr lang="en-US" sz="3600" dirty="0"/>
          </a:p>
        </p:txBody>
      </p:sp>
      <p:sp>
        <p:nvSpPr>
          <p:cNvPr id="8" name="Text 1"/>
          <p:cNvSpPr/>
          <p:nvPr/>
        </p:nvSpPr>
        <p:spPr>
          <a:xfrm>
            <a:off x="1393147" y="4796033"/>
            <a:ext cx="8788180" cy="546086"/>
          </a:xfrm>
          <a:prstGeom prst="rect">
            <a:avLst/>
          </a:prstGeom>
          <a:noFill/>
        </p:spPr>
        <p:txBody>
          <a:bodyPr wrap="square" lIns="0" tIns="0" rIns="0" bIns="0" rtlCol="0" anchor="t"/>
          <a:lstStyle/>
          <a:p>
            <a:pPr marL="0" indent="0" algn="ctr">
              <a:lnSpc>
                <a:spcPct val="130000"/>
              </a:lnSpc>
              <a:buNone/>
            </a:pPr>
            <a:r>
              <a:rPr lang="en-US" sz="2000" dirty="0">
                <a:solidFill>
                  <a:srgbClr val="334155"/>
                </a:solidFill>
                <a:latin typeface="Comic Sans MS" panose="030F0702030302020204" pitchFamily="34" charset="0"/>
                <a:ea typeface="Comic Sans MS" panose="030F0702030302020204" pitchFamily="34" charset="-122"/>
                <a:cs typeface="Comic Sans MS" panose="030F0702030302020204" pitchFamily="34" charset="-120"/>
              </a:rPr>
              <a:t>Utkarsh Pathak</a:t>
            </a:r>
            <a:r>
              <a:rPr lang="en-US" sz="2000" dirty="0">
                <a:solidFill>
                  <a:srgbClr val="334155"/>
                </a:solidFill>
                <a:latin typeface="Comic Sans MS" panose="030F0702030302020204" pitchFamily="34" charset="0"/>
                <a:ea typeface="Comic Sans MS" panose="030F0702030302020204" pitchFamily="34" charset="-122"/>
                <a:cs typeface="Comic Sans MS" panose="030F0702030302020204" pitchFamily="34" charset="-120"/>
              </a:rPr>
              <a:t>
</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939777" y="1371566"/>
            <a:ext cx="7746806" cy="3771934"/>
          </a:xfrm>
          <a:prstGeom prst="rect">
            <a:avLst/>
          </a:prstGeom>
        </p:spPr>
      </p:pic>
      <p:pic>
        <p:nvPicPr>
          <p:cNvPr id="5" name="Image 3" descr="preencoded.png"/>
          <p:cNvPicPr>
            <a:picLocks noChangeAspect="1"/>
          </p:cNvPicPr>
          <p:nvPr/>
        </p:nvPicPr>
        <p:blipFill>
          <a:blip r:embed="rId4"/>
          <a:srcRect/>
          <a:stretch>
            <a:fillRect/>
          </a:stretch>
        </p:blipFill>
        <p:spPr>
          <a:xfrm>
            <a:off x="939777" y="1371566"/>
            <a:ext cx="7746806" cy="3771934"/>
          </a:xfrm>
          <a:prstGeom prst="rect">
            <a:avLst/>
          </a:prstGeom>
        </p:spPr>
      </p:pic>
      <p:pic>
        <p:nvPicPr>
          <p:cNvPr id="6" name="Image 4" descr="preencoded.png"/>
          <p:cNvPicPr>
            <a:picLocks noChangeAspect="1"/>
          </p:cNvPicPr>
          <p:nvPr/>
        </p:nvPicPr>
        <p:blipFill>
          <a:blip r:embed="rId5"/>
          <a:srcRect/>
          <a:stretch>
            <a:fillRect/>
          </a:stretch>
        </p:blipFill>
        <p:spPr>
          <a:xfrm>
            <a:off x="4178196" y="1917652"/>
            <a:ext cx="3555911" cy="507987"/>
          </a:xfrm>
          <a:prstGeom prst="rect">
            <a:avLst/>
          </a:prstGeom>
        </p:spPr>
      </p:pic>
      <p:pic>
        <p:nvPicPr>
          <p:cNvPr id="7" name="Image 5" descr="preencoded.png"/>
          <p:cNvPicPr>
            <a:picLocks noChangeAspect="1"/>
          </p:cNvPicPr>
          <p:nvPr/>
        </p:nvPicPr>
        <p:blipFill>
          <a:blip r:embed="rId6"/>
          <a:srcRect/>
          <a:stretch>
            <a:fillRect/>
          </a:stretch>
        </p:blipFill>
        <p:spPr>
          <a:xfrm>
            <a:off x="6984825" y="2539937"/>
            <a:ext cx="1015975" cy="761981"/>
          </a:xfrm>
          <a:prstGeom prst="rect">
            <a:avLst/>
          </a:prstGeom>
        </p:spPr>
      </p:pic>
      <p:pic>
        <p:nvPicPr>
          <p:cNvPr id="8" name="Image 6" descr="preencoded.png"/>
          <p:cNvPicPr>
            <a:picLocks noChangeAspect="1"/>
          </p:cNvPicPr>
          <p:nvPr/>
        </p:nvPicPr>
        <p:blipFill>
          <a:blip r:embed="rId5"/>
          <a:srcRect/>
          <a:stretch>
            <a:fillRect/>
          </a:stretch>
        </p:blipFill>
        <p:spPr>
          <a:xfrm>
            <a:off x="4178196" y="1917652"/>
            <a:ext cx="3555911" cy="507987"/>
          </a:xfrm>
          <a:prstGeom prst="rect">
            <a:avLst/>
          </a:prstGeom>
        </p:spPr>
      </p:pic>
      <p:pic>
        <p:nvPicPr>
          <p:cNvPr id="9" name="Image 7" descr="preencoded.png"/>
          <p:cNvPicPr>
            <a:picLocks noChangeAspect="1"/>
          </p:cNvPicPr>
          <p:nvPr/>
        </p:nvPicPr>
        <p:blipFill>
          <a:blip r:embed="rId6"/>
          <a:srcRect/>
          <a:stretch>
            <a:fillRect/>
          </a:stretch>
        </p:blipFill>
        <p:spPr>
          <a:xfrm>
            <a:off x="6984825" y="2539937"/>
            <a:ext cx="1015975" cy="761981"/>
          </a:xfrm>
          <a:prstGeom prst="rect">
            <a:avLst/>
          </a:prstGeom>
        </p:spPr>
      </p:pic>
      <p:pic>
        <p:nvPicPr>
          <p:cNvPr id="10" name="Image 8" descr="preencoded.png"/>
          <p:cNvPicPr>
            <a:picLocks noChangeAspect="1"/>
          </p:cNvPicPr>
          <p:nvPr/>
        </p:nvPicPr>
        <p:blipFill>
          <a:blip r:embed="rId7"/>
          <a:srcRect/>
          <a:stretch>
            <a:fillRect/>
          </a:stretch>
        </p:blipFill>
        <p:spPr>
          <a:xfrm>
            <a:off x="5130672" y="2247844"/>
            <a:ext cx="2539937" cy="38099"/>
          </a:xfrm>
          <a:prstGeom prst="rect">
            <a:avLst/>
          </a:prstGeom>
        </p:spPr>
      </p:pic>
      <p:pic>
        <p:nvPicPr>
          <p:cNvPr id="11" name="Image 9" descr="preencoded.png"/>
          <p:cNvPicPr>
            <a:picLocks noChangeAspect="1"/>
          </p:cNvPicPr>
          <p:nvPr/>
        </p:nvPicPr>
        <p:blipFill>
          <a:blip r:embed="rId7"/>
          <a:srcRect/>
          <a:stretch>
            <a:fillRect/>
          </a:stretch>
        </p:blipFill>
        <p:spPr>
          <a:xfrm>
            <a:off x="5130672" y="2247844"/>
            <a:ext cx="2539937" cy="38099"/>
          </a:xfrm>
          <a:prstGeom prst="rect">
            <a:avLst/>
          </a:prstGeom>
        </p:spPr>
      </p:pic>
      <p:pic>
        <p:nvPicPr>
          <p:cNvPr id="12" name="Image 10" descr="https://images.unsplash.com/photo-1633356122544-f134324a6cee?crop=entropy&amp;cs=tinysrgb&amp;fit=max&amp;fm=jpg&amp;ixid=M3w2Njc0MzZ8MHwxfHNlYXJjaHwxfHxmdWxsJTIwc3RhY2t8ZW58MHx8fHwxNzcxOTM5NjYwfDA&amp;ixlib=rb-4.1.0&amp;q=80&amp;w=1080"/>
          <p:cNvPicPr>
            <a:picLocks noChangeAspect="1"/>
          </p:cNvPicPr>
          <p:nvPr/>
        </p:nvPicPr>
        <p:blipFill>
          <a:blip r:embed="rId8"/>
          <a:srcRect/>
          <a:stretch>
            <a:fillRect/>
          </a:stretch>
        </p:blipFill>
        <p:spPr>
          <a:xfrm>
            <a:off x="8800880" y="1371560"/>
            <a:ext cx="3047924" cy="3809905"/>
          </a:xfrm>
          <a:prstGeom prst="rect">
            <a:avLst/>
          </a:prstGeom>
        </p:spPr>
      </p:pic>
      <p:pic>
        <p:nvPicPr>
          <p:cNvPr id="13" name="Image 11" descr="preencoded.png"/>
          <p:cNvPicPr>
            <a:picLocks noChangeAspect="1"/>
          </p:cNvPicPr>
          <p:nvPr/>
        </p:nvPicPr>
        <p:blipFill>
          <a:blip r:embed="rId9"/>
          <a:srcRect/>
          <a:stretch>
            <a:fillRect/>
          </a:stretch>
        </p:blipFill>
        <p:spPr>
          <a:xfrm>
            <a:off x="7619810" y="1015975"/>
            <a:ext cx="507987" cy="507987"/>
          </a:xfrm>
          <a:prstGeom prst="rect">
            <a:avLst/>
          </a:prstGeom>
        </p:spPr>
      </p:pic>
      <p:pic>
        <p:nvPicPr>
          <p:cNvPr id="14" name="Image 12" descr="preencoded.png"/>
          <p:cNvPicPr>
            <a:picLocks noChangeAspect="1"/>
          </p:cNvPicPr>
          <p:nvPr/>
        </p:nvPicPr>
        <p:blipFill>
          <a:blip r:embed="rId9"/>
          <a:srcRect/>
          <a:stretch>
            <a:fillRect/>
          </a:stretch>
        </p:blipFill>
        <p:spPr>
          <a:xfrm>
            <a:off x="7619810" y="1015975"/>
            <a:ext cx="507987" cy="507987"/>
          </a:xfrm>
          <a:prstGeom prst="rect">
            <a:avLst/>
          </a:prstGeom>
        </p:spPr>
      </p:pic>
      <p:pic>
        <p:nvPicPr>
          <p:cNvPr id="15" name="Image 13" descr="preencoded.png"/>
          <p:cNvPicPr>
            <a:picLocks noChangeAspect="1"/>
          </p:cNvPicPr>
          <p:nvPr/>
        </p:nvPicPr>
        <p:blipFill>
          <a:blip r:embed="rId10"/>
          <a:srcRect/>
          <a:stretch>
            <a:fillRect/>
          </a:stretch>
        </p:blipFill>
        <p:spPr>
          <a:xfrm>
            <a:off x="761981" y="1904952"/>
            <a:ext cx="355591" cy="355591"/>
          </a:xfrm>
          <a:prstGeom prst="rect">
            <a:avLst/>
          </a:prstGeom>
        </p:spPr>
      </p:pic>
      <p:pic>
        <p:nvPicPr>
          <p:cNvPr id="16" name="Image 14" descr="preencoded.png"/>
          <p:cNvPicPr>
            <a:picLocks noChangeAspect="1"/>
          </p:cNvPicPr>
          <p:nvPr/>
        </p:nvPicPr>
        <p:blipFill>
          <a:blip r:embed="rId10"/>
          <a:srcRect/>
          <a:stretch>
            <a:fillRect/>
          </a:stretch>
        </p:blipFill>
        <p:spPr>
          <a:xfrm>
            <a:off x="761981" y="1904952"/>
            <a:ext cx="355591" cy="355591"/>
          </a:xfrm>
          <a:prstGeom prst="rect">
            <a:avLst/>
          </a:prstGeom>
        </p:spPr>
      </p:pic>
      <p:pic>
        <p:nvPicPr>
          <p:cNvPr id="17" name="Image 15" descr="preencoded.png"/>
          <p:cNvPicPr>
            <a:picLocks noChangeAspect="1"/>
          </p:cNvPicPr>
          <p:nvPr/>
        </p:nvPicPr>
        <p:blipFill>
          <a:blip r:embed="rId11"/>
          <a:srcRect/>
          <a:stretch>
            <a:fillRect/>
          </a:stretch>
        </p:blipFill>
        <p:spPr>
          <a:xfrm>
            <a:off x="8127797" y="1269968"/>
            <a:ext cx="253994" cy="380990"/>
          </a:xfrm>
          <a:prstGeom prst="rect">
            <a:avLst/>
          </a:prstGeom>
        </p:spPr>
      </p:pic>
      <p:pic>
        <p:nvPicPr>
          <p:cNvPr id="18" name="Image 16" descr="preencoded.png"/>
          <p:cNvPicPr>
            <a:picLocks noChangeAspect="1"/>
          </p:cNvPicPr>
          <p:nvPr/>
        </p:nvPicPr>
        <p:blipFill>
          <a:blip r:embed="rId11"/>
          <a:srcRect/>
          <a:stretch>
            <a:fillRect/>
          </a:stretch>
        </p:blipFill>
        <p:spPr>
          <a:xfrm>
            <a:off x="8127797" y="1269968"/>
            <a:ext cx="253994" cy="380990"/>
          </a:xfrm>
          <a:prstGeom prst="rect">
            <a:avLst/>
          </a:prstGeom>
        </p:spPr>
      </p:pic>
      <p:sp>
        <p:nvSpPr>
          <p:cNvPr id="19" name="Text 0"/>
          <p:cNvSpPr/>
          <p:nvPr/>
        </p:nvSpPr>
        <p:spPr>
          <a:xfrm>
            <a:off x="1130272" y="1473163"/>
            <a:ext cx="7213420" cy="1104872"/>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Segoe Print" panose="02000600000000000000" pitchFamily="34" charset="0"/>
                <a:ea typeface="Segoe Print" panose="02000600000000000000" pitchFamily="34" charset="-122"/>
                <a:cs typeface="Segoe Print" panose="02000600000000000000" pitchFamily="34" charset="-120"/>
              </a:rPr>
              <a:t>Recipe Catalog - Full Stack Deployment with Docker and Kubernetes
</a:t>
            </a:r>
            <a:endParaRPr lang="en-US" sz="2900" dirty="0"/>
          </a:p>
        </p:txBody>
      </p:sp>
      <p:sp>
        <p:nvSpPr>
          <p:cNvPr id="20" name="Text 1"/>
          <p:cNvSpPr/>
          <p:nvPr/>
        </p:nvSpPr>
        <p:spPr>
          <a:xfrm>
            <a:off x="1092173" y="3047924"/>
            <a:ext cx="7327717" cy="3086023"/>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omic Sans MS" panose="030F0702030302020204" pitchFamily="34" charset="0"/>
                <a:ea typeface="Comic Sans MS" panose="030F0702030302020204" pitchFamily="34" charset="-122"/>
                <a:cs typeface="Comic Sans MS" panose="030F0702030302020204" pitchFamily="34" charset="-120"/>
              </a:rPr>
              <a:t>Welcome to the Recipe Catalog Project presentation. This MERN web application leverages modern technologies like React, Node.js, Express, and MongoDB Atlas. Our focus is on creating a seamless user experience for managing recipes, while ensuring consistent deployment across various environments using Docker and Kubernetes. Join us as we explore the architecture, features, and deployment strategies that make this project a robust solution for recipe management.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473163" y="444489"/>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Demo, Challenges, and Future Scope</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Shape 1"/>
          <p:cNvSpPr/>
          <p:nvPr/>
        </p:nvSpPr>
        <p:spPr>
          <a:xfrm>
            <a:off x="761981" y="1722077"/>
            <a:ext cx="406390" cy="406390"/>
          </a:xfrm>
          <a:prstGeom prst="ellipse">
            <a:avLst/>
          </a:prstGeom>
          <a:solidFill>
            <a:srgbClr val="FF6B9D">
              <a:alpha val="90000"/>
            </a:srgbClr>
          </a:solidFill>
        </p:spPr>
      </p:sp>
      <p:sp>
        <p:nvSpPr>
          <p:cNvPr id="14" name="Text 2"/>
          <p:cNvSpPr/>
          <p:nvPr>
            <p:custDataLst>
              <p:tags r:id="rId8"/>
            </p:custDataLst>
          </p:nvPr>
        </p:nvSpPr>
        <p:spPr>
          <a:xfrm>
            <a:off x="1422364" y="1671278"/>
            <a:ext cx="10007350" cy="380990"/>
          </a:xfrm>
          <a:prstGeom prst="rect">
            <a:avLst/>
          </a:prstGeom>
          <a:noFill/>
        </p:spPr>
        <p:txBody>
          <a:bodyPr wrap="square" lIns="0" tIns="0" rIns="0" bIns="0" rtlCol="0" anchor="t"/>
          <a:lstStyle/>
          <a:p>
            <a:pPr marL="0" indent="0" algn="l">
              <a:lnSpc>
                <a:spcPct val="120000"/>
              </a:lnSpc>
              <a:buNone/>
            </a:pPr>
            <a:r>
              <a:rPr lang="en-US" sz="1400" b="1" dirty="0">
                <a:solidFill>
                  <a:srgbClr val="FF6B9D"/>
                </a:solidFill>
                <a:latin typeface="Calibri" panose="020F0502020204030204" pitchFamily="34" charset="0"/>
                <a:ea typeface="Calibri" panose="020F0502020204030204" pitchFamily="34" charset="-122"/>
                <a:cs typeface="Calibri" panose="020F0502020204030204" pitchFamily="34" charset="-120"/>
              </a:rPr>
              <a:t>LIVE DEMO FLOW
</a:t>
            </a:r>
            <a:endParaRPr lang="en-US" sz="1400" dirty="0"/>
          </a:p>
        </p:txBody>
      </p:sp>
      <p:sp>
        <p:nvSpPr>
          <p:cNvPr id="15" name="Text 3"/>
          <p:cNvSpPr/>
          <p:nvPr>
            <p:custDataLst>
              <p:tags r:id="rId9"/>
            </p:custDataLst>
          </p:nvPr>
        </p:nvSpPr>
        <p:spPr>
          <a:xfrm>
            <a:off x="1422364" y="2077668"/>
            <a:ext cx="10007350" cy="899138"/>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Demonstrate the app by creating a recipe, updating it, marking it as favorite, and deleting it to showcase full functionality.
</a:t>
            </a:r>
            <a:endParaRPr lang="en-US" sz="1300" dirty="0"/>
          </a:p>
        </p:txBody>
      </p:sp>
      <p:sp>
        <p:nvSpPr>
          <p:cNvPr id="16" name="Shape 4"/>
          <p:cNvSpPr/>
          <p:nvPr/>
        </p:nvSpPr>
        <p:spPr>
          <a:xfrm>
            <a:off x="761981" y="3281598"/>
            <a:ext cx="406390" cy="406390"/>
          </a:xfrm>
          <a:prstGeom prst="ellipse">
            <a:avLst/>
          </a:prstGeom>
          <a:solidFill>
            <a:srgbClr val="FF6B9D">
              <a:alpha val="90000"/>
            </a:srgbClr>
          </a:solidFill>
        </p:spPr>
      </p:sp>
      <p:sp>
        <p:nvSpPr>
          <p:cNvPr id="17" name="Text 5"/>
          <p:cNvSpPr/>
          <p:nvPr>
            <p:custDataLst>
              <p:tags r:id="rId10"/>
            </p:custDataLst>
          </p:nvPr>
        </p:nvSpPr>
        <p:spPr>
          <a:xfrm>
            <a:off x="1422364" y="3230799"/>
            <a:ext cx="10007350" cy="380990"/>
          </a:xfrm>
          <a:prstGeom prst="rect">
            <a:avLst/>
          </a:prstGeom>
          <a:noFill/>
        </p:spPr>
        <p:txBody>
          <a:bodyPr wrap="square" lIns="0" tIns="0" rIns="0" bIns="0" rtlCol="0" anchor="t"/>
          <a:lstStyle/>
          <a:p>
            <a:pPr marL="0" indent="0" algn="l">
              <a:lnSpc>
                <a:spcPct val="120000"/>
              </a:lnSpc>
              <a:buNone/>
            </a:pPr>
            <a:r>
              <a:rPr lang="en-US" sz="1400" b="1" dirty="0">
                <a:solidFill>
                  <a:srgbClr val="FF6B9D"/>
                </a:solidFill>
                <a:latin typeface="Calibri" panose="020F0502020204030204" pitchFamily="34" charset="0"/>
                <a:ea typeface="Calibri" panose="020F0502020204030204" pitchFamily="34" charset="-122"/>
                <a:cs typeface="Calibri" panose="020F0502020204030204" pitchFamily="34" charset="-120"/>
              </a:rPr>
              <a:t>CHALLENGES SOLVED
</a:t>
            </a:r>
            <a:endParaRPr lang="en-US" sz="1400" dirty="0"/>
          </a:p>
        </p:txBody>
      </p:sp>
      <p:sp>
        <p:nvSpPr>
          <p:cNvPr id="18" name="Text 6"/>
          <p:cNvSpPr/>
          <p:nvPr>
            <p:custDataLst>
              <p:tags r:id="rId11"/>
            </p:custDataLst>
          </p:nvPr>
        </p:nvSpPr>
        <p:spPr>
          <a:xfrm>
            <a:off x="1422364" y="3637189"/>
            <a:ext cx="10007350" cy="1066773"/>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Addressed API URL portability for Docker and Kubernetes, ensured Nginx routing alignment, and created stable deployment documentation for reproducibility.
</a:t>
            </a:r>
            <a:endParaRPr lang="en-US" sz="1300" dirty="0"/>
          </a:p>
        </p:txBody>
      </p:sp>
      <p:sp>
        <p:nvSpPr>
          <p:cNvPr id="19" name="Shape 7"/>
          <p:cNvSpPr/>
          <p:nvPr/>
        </p:nvSpPr>
        <p:spPr>
          <a:xfrm>
            <a:off x="761981" y="4841119"/>
            <a:ext cx="406390" cy="302381"/>
          </a:xfrm>
          <a:prstGeom prst="ellipse">
            <a:avLst/>
          </a:prstGeom>
          <a:solidFill>
            <a:srgbClr val="8B5CF6">
              <a:alpha val="90000"/>
            </a:srgbClr>
          </a:solidFill>
        </p:spPr>
      </p:sp>
      <p:sp>
        <p:nvSpPr>
          <p:cNvPr id="20" name="Text 8"/>
          <p:cNvSpPr/>
          <p:nvPr>
            <p:custDataLst>
              <p:tags r:id="rId12"/>
            </p:custDataLst>
          </p:nvPr>
        </p:nvSpPr>
        <p:spPr>
          <a:xfrm>
            <a:off x="1422364" y="4790320"/>
            <a:ext cx="10007350" cy="380990"/>
          </a:xfrm>
          <a:prstGeom prst="rect">
            <a:avLst/>
          </a:prstGeom>
          <a:noFill/>
        </p:spPr>
        <p:txBody>
          <a:bodyPr wrap="square" lIns="0" tIns="0" rIns="0" bIns="0" rtlCol="0" anchor="t"/>
          <a:lstStyle/>
          <a:p>
            <a:pPr marL="0" indent="0" algn="l">
              <a:lnSpc>
                <a:spcPct val="120000"/>
              </a:lnSpc>
              <a:buNone/>
            </a:pPr>
            <a:r>
              <a:rPr lang="en-US" sz="1400" b="1" dirty="0">
                <a:solidFill>
                  <a:srgbClr val="8B5CF6"/>
                </a:solidFill>
                <a:latin typeface="Calibri" panose="020F0502020204030204" pitchFamily="34" charset="0"/>
                <a:ea typeface="Calibri" panose="020F0502020204030204" pitchFamily="34" charset="-122"/>
                <a:cs typeface="Calibri" panose="020F0502020204030204" pitchFamily="34" charset="-120"/>
              </a:rPr>
              <a:t>FUTURE ENHANCEMENTS
</a:t>
            </a:r>
            <a:endParaRPr lang="en-US" sz="1400" dirty="0"/>
          </a:p>
        </p:txBody>
      </p:sp>
      <p:sp>
        <p:nvSpPr>
          <p:cNvPr id="21" name="Text 9"/>
          <p:cNvSpPr/>
          <p:nvPr>
            <p:custDataLst>
              <p:tags r:id="rId13"/>
            </p:custDataLst>
          </p:nvPr>
        </p:nvSpPr>
        <p:spPr>
          <a:xfrm>
            <a:off x="1422364" y="5196710"/>
            <a:ext cx="10007350" cy="899138"/>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Plan to implement user authentication, image uploads for recipes, CI/CD pipelines, and monitoring solutions using Prometheus and Grafana.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523962" y="330192"/>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Kubernetes Deployment Overview</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Text 1"/>
          <p:cNvSpPr/>
          <p:nvPr/>
        </p:nvSpPr>
        <p:spPr>
          <a:xfrm>
            <a:off x="761981" y="1671278"/>
            <a:ext cx="3284985" cy="698483"/>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K8s Resource Files
</a:t>
            </a:r>
            <a:endParaRPr lang="en-US" sz="1400" dirty="0"/>
          </a:p>
        </p:txBody>
      </p:sp>
      <p:sp>
        <p:nvSpPr>
          <p:cNvPr id="14" name="Text 2"/>
          <p:cNvSpPr/>
          <p:nvPr/>
        </p:nvSpPr>
        <p:spPr>
          <a:xfrm>
            <a:off x="761981" y="2623754"/>
            <a:ext cx="3284985" cy="1269968"/>
          </a:xfrm>
          <a:prstGeom prst="rect">
            <a:avLst/>
          </a:prstGeom>
          <a:noFill/>
        </p:spPr>
        <p:txBody>
          <a:bodyPr wrap="square" lIns="0" tIns="0" rIns="0" bIns="0" rtlCol="0" anchor="t"/>
          <a:lstStyle/>
          <a:p>
            <a:pPr marL="0" indent="0" algn="l">
              <a:lnSpc>
                <a:spcPct val="16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Utilized `configmap.yaml` for environment variables and `secret.yaml` for sensitive data, ensuring secure and efficient configuration management in Kubernetes.
</a:t>
            </a:r>
            <a:endParaRPr lang="en-US" sz="1300" dirty="0"/>
          </a:p>
        </p:txBody>
      </p:sp>
      <p:sp>
        <p:nvSpPr>
          <p:cNvPr id="15" name="Shape 3"/>
          <p:cNvSpPr/>
          <p:nvPr/>
        </p:nvSpPr>
        <p:spPr>
          <a:xfrm>
            <a:off x="761981" y="4528707"/>
            <a:ext cx="1015975" cy="76198"/>
          </a:xfrm>
          <a:prstGeom prst="rect">
            <a:avLst/>
          </a:prstGeom>
          <a:solidFill>
            <a:srgbClr val="FF6B9D"/>
          </a:solidFill>
        </p:spPr>
      </p:sp>
      <p:sp>
        <p:nvSpPr>
          <p:cNvPr id="16" name="Text 4"/>
          <p:cNvSpPr/>
          <p:nvPr/>
        </p:nvSpPr>
        <p:spPr>
          <a:xfrm>
            <a:off x="4453355" y="1671278"/>
            <a:ext cx="3284985" cy="698483"/>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Deployment and Services
</a:t>
            </a:r>
            <a:endParaRPr lang="en-US" sz="1400" dirty="0"/>
          </a:p>
        </p:txBody>
      </p:sp>
      <p:sp>
        <p:nvSpPr>
          <p:cNvPr id="17" name="Text 5"/>
          <p:cNvSpPr/>
          <p:nvPr/>
        </p:nvSpPr>
        <p:spPr>
          <a:xfrm>
            <a:off x="4453355" y="2623754"/>
            <a:ext cx="3284985" cy="1269968"/>
          </a:xfrm>
          <a:prstGeom prst="rect">
            <a:avLst/>
          </a:prstGeom>
          <a:noFill/>
        </p:spPr>
        <p:txBody>
          <a:bodyPr wrap="square" lIns="0" tIns="0" rIns="0" bIns="0" rtlCol="0" anchor="t"/>
          <a:lstStyle/>
          <a:p>
            <a:pPr marL="0" indent="0" algn="l">
              <a:lnSpc>
                <a:spcPct val="16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Created `backend-deployment.yaml` and `frontend-deployment.yaml` to manage application instances, along with corresponding services for internal communication.
</a:t>
            </a:r>
            <a:endParaRPr lang="en-US" sz="1300" dirty="0"/>
          </a:p>
        </p:txBody>
      </p:sp>
      <p:sp>
        <p:nvSpPr>
          <p:cNvPr id="18" name="Shape 6"/>
          <p:cNvSpPr/>
          <p:nvPr/>
        </p:nvSpPr>
        <p:spPr>
          <a:xfrm>
            <a:off x="4453355" y="4528707"/>
            <a:ext cx="1015975" cy="76198"/>
          </a:xfrm>
          <a:prstGeom prst="rect">
            <a:avLst/>
          </a:prstGeom>
          <a:solidFill>
            <a:srgbClr val="8B5CF6"/>
          </a:solidFill>
        </p:spPr>
      </p:sp>
      <p:sp>
        <p:nvSpPr>
          <p:cNvPr id="19" name="Text 7"/>
          <p:cNvSpPr/>
          <p:nvPr/>
        </p:nvSpPr>
        <p:spPr>
          <a:xfrm>
            <a:off x="8144730" y="1671278"/>
            <a:ext cx="3284985" cy="698483"/>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Ingress Configuration
</a:t>
            </a:r>
            <a:endParaRPr lang="en-US" sz="1400" dirty="0"/>
          </a:p>
        </p:txBody>
      </p:sp>
      <p:sp>
        <p:nvSpPr>
          <p:cNvPr id="20" name="Text 8"/>
          <p:cNvSpPr/>
          <p:nvPr/>
        </p:nvSpPr>
        <p:spPr>
          <a:xfrm>
            <a:off x="8144730" y="2623754"/>
            <a:ext cx="3284985" cy="1269968"/>
          </a:xfrm>
          <a:prstGeom prst="rect">
            <a:avLst/>
          </a:prstGeom>
          <a:noFill/>
        </p:spPr>
        <p:txBody>
          <a:bodyPr wrap="square" lIns="0" tIns="0" rIns="0" bIns="0" rtlCol="0" anchor="t"/>
          <a:lstStyle/>
          <a:p>
            <a:pPr marL="0" indent="0" algn="l">
              <a:lnSpc>
                <a:spcPct val="16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Configured `ingress.yaml` for domain-based routing, directing traffic to the frontend and backend services, enhancing user accessibility and experience.
</a:t>
            </a:r>
            <a:endParaRPr lang="en-US" sz="1300" dirty="0"/>
          </a:p>
        </p:txBody>
      </p:sp>
      <p:sp>
        <p:nvSpPr>
          <p:cNvPr id="21" name="Shape 9"/>
          <p:cNvSpPr/>
          <p:nvPr/>
        </p:nvSpPr>
        <p:spPr>
          <a:xfrm>
            <a:off x="8144730" y="4528707"/>
            <a:ext cx="999270" cy="76198"/>
          </a:xfrm>
          <a:prstGeom prst="rect">
            <a:avLst/>
          </a:prstGeom>
          <a:solidFill>
            <a:srgbClr val="FF6B9D"/>
          </a:solid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523962" y="330192"/>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Frontend and Backend Details</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Shape 1"/>
          <p:cNvSpPr/>
          <p:nvPr/>
        </p:nvSpPr>
        <p:spPr>
          <a:xfrm>
            <a:off x="761981" y="1607780"/>
            <a:ext cx="3276518" cy="3535720"/>
          </a:xfrm>
          <a:prstGeom prst="rect">
            <a:avLst/>
          </a:prstGeom>
          <a:noFill/>
        </p:spPr>
      </p:sp>
      <p:sp>
        <p:nvSpPr>
          <p:cNvPr id="14" name="Text 2"/>
          <p:cNvSpPr/>
          <p:nvPr>
            <p:custDataLst>
              <p:tags r:id="rId8"/>
            </p:custDataLst>
          </p:nvPr>
        </p:nvSpPr>
        <p:spPr>
          <a:xfrm>
            <a:off x="3327317"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1
</a:t>
            </a:r>
            <a:endParaRPr lang="en-US" sz="2500" dirty="0"/>
          </a:p>
        </p:txBody>
      </p:sp>
      <p:sp>
        <p:nvSpPr>
          <p:cNvPr id="15" name="Text 3"/>
          <p:cNvSpPr/>
          <p:nvPr>
            <p:custDataLst>
              <p:tags r:id="rId9"/>
            </p:custDataLst>
          </p:nvPr>
        </p:nvSpPr>
        <p:spPr>
          <a:xfrm>
            <a:off x="1066773"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Frontend Architecture
</a:t>
            </a:r>
            <a:endParaRPr lang="en-US" sz="1400" dirty="0"/>
          </a:p>
        </p:txBody>
      </p:sp>
      <p:sp>
        <p:nvSpPr>
          <p:cNvPr id="16" name="Text 4"/>
          <p:cNvSpPr/>
          <p:nvPr>
            <p:custDataLst>
              <p:tags r:id="rId10"/>
            </p:custDataLst>
          </p:nvPr>
        </p:nvSpPr>
        <p:spPr>
          <a:xfrm>
            <a:off x="1066773" y="3385735"/>
            <a:ext cx="2666933" cy="1747476"/>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Utilizes React with Context API for efficient state management, ensuring a responsive and clean component-based UI that enhances user experience.
</a:t>
            </a:r>
            <a:endParaRPr lang="en-US" sz="1300" dirty="0"/>
          </a:p>
        </p:txBody>
      </p:sp>
      <p:sp>
        <p:nvSpPr>
          <p:cNvPr id="17" name="Shape 5"/>
          <p:cNvSpPr/>
          <p:nvPr/>
        </p:nvSpPr>
        <p:spPr>
          <a:xfrm>
            <a:off x="4457589" y="1607780"/>
            <a:ext cx="3276518" cy="3535720"/>
          </a:xfrm>
          <a:prstGeom prst="rect">
            <a:avLst/>
          </a:prstGeom>
          <a:noFill/>
        </p:spPr>
      </p:sp>
      <p:sp>
        <p:nvSpPr>
          <p:cNvPr id="18" name="Text 6"/>
          <p:cNvSpPr/>
          <p:nvPr>
            <p:custDataLst>
              <p:tags r:id="rId11"/>
            </p:custDataLst>
          </p:nvPr>
        </p:nvSpPr>
        <p:spPr>
          <a:xfrm>
            <a:off x="7022924"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2
</a:t>
            </a:r>
            <a:endParaRPr lang="en-US" sz="2500" dirty="0"/>
          </a:p>
        </p:txBody>
      </p:sp>
      <p:sp>
        <p:nvSpPr>
          <p:cNvPr id="19" name="Text 7"/>
          <p:cNvSpPr/>
          <p:nvPr>
            <p:custDataLst>
              <p:tags r:id="rId12"/>
            </p:custDataLst>
          </p:nvPr>
        </p:nvSpPr>
        <p:spPr>
          <a:xfrm>
            <a:off x="4762381"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Backend Structure
</a:t>
            </a:r>
            <a:endParaRPr lang="en-US" sz="1400" dirty="0"/>
          </a:p>
        </p:txBody>
      </p:sp>
      <p:sp>
        <p:nvSpPr>
          <p:cNvPr id="20" name="Text 8"/>
          <p:cNvSpPr/>
          <p:nvPr>
            <p:custDataLst>
              <p:tags r:id="rId13"/>
            </p:custDataLst>
          </p:nvPr>
        </p:nvSpPr>
        <p:spPr>
          <a:xfrm>
            <a:off x="4762381" y="3385735"/>
            <a:ext cx="2666933" cy="1747476"/>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Built with Express, providing RESTful endpoints under `/api/recipe`, ensuring seamless communication with the MongoDB database for data persistence.
</a:t>
            </a:r>
            <a:endParaRPr lang="en-US" sz="1300" dirty="0"/>
          </a:p>
        </p:txBody>
      </p:sp>
      <p:sp>
        <p:nvSpPr>
          <p:cNvPr id="21" name="Shape 9"/>
          <p:cNvSpPr/>
          <p:nvPr/>
        </p:nvSpPr>
        <p:spPr>
          <a:xfrm>
            <a:off x="8153196" y="1607780"/>
            <a:ext cx="990804" cy="3535720"/>
          </a:xfrm>
          <a:prstGeom prst="rect">
            <a:avLst/>
          </a:prstGeom>
          <a:noFill/>
        </p:spPr>
      </p:sp>
      <p:sp>
        <p:nvSpPr>
          <p:cNvPr id="22" name="Text 10"/>
          <p:cNvSpPr/>
          <p:nvPr>
            <p:custDataLst>
              <p:tags r:id="rId14"/>
            </p:custDataLst>
          </p:nvPr>
        </p:nvSpPr>
        <p:spPr>
          <a:xfrm>
            <a:off x="10718532"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3
</a:t>
            </a:r>
            <a:endParaRPr lang="en-US" sz="2500" dirty="0"/>
          </a:p>
        </p:txBody>
      </p:sp>
      <p:sp>
        <p:nvSpPr>
          <p:cNvPr id="23" name="Text 11"/>
          <p:cNvSpPr/>
          <p:nvPr>
            <p:custDataLst>
              <p:tags r:id="rId15"/>
            </p:custDataLst>
          </p:nvPr>
        </p:nvSpPr>
        <p:spPr>
          <a:xfrm>
            <a:off x="8457989"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Database Connection
</a:t>
            </a:r>
            <a:endParaRPr lang="en-US" sz="1400" dirty="0"/>
          </a:p>
        </p:txBody>
      </p:sp>
      <p:sp>
        <p:nvSpPr>
          <p:cNvPr id="24" name="Text 12"/>
          <p:cNvSpPr/>
          <p:nvPr>
            <p:custDataLst>
              <p:tags r:id="rId16"/>
            </p:custDataLst>
          </p:nvPr>
        </p:nvSpPr>
        <p:spPr>
          <a:xfrm>
            <a:off x="8457989" y="3385735"/>
            <a:ext cx="2666933" cy="1996390"/>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MongoDB connection is established using the environment variable `MONGO_URI`, allowing for secure and flexible database access across different environments.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587460" y="330192"/>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Docker Implementation Details</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Shape 1"/>
          <p:cNvSpPr/>
          <p:nvPr/>
        </p:nvSpPr>
        <p:spPr>
          <a:xfrm>
            <a:off x="1587460" y="1396965"/>
            <a:ext cx="38099" cy="2539937"/>
          </a:xfrm>
          <a:prstGeom prst="rect">
            <a:avLst/>
          </a:prstGeom>
          <a:solidFill>
            <a:srgbClr val="8B5CF6"/>
          </a:solidFill>
        </p:spPr>
      </p:sp>
      <p:pic>
        <p:nvPicPr>
          <p:cNvPr id="14" name="Image 10" descr="preencoded.png"/>
          <p:cNvPicPr>
            <a:picLocks noChangeAspect="1"/>
          </p:cNvPicPr>
          <p:nvPr/>
        </p:nvPicPr>
        <p:blipFill>
          <a:blip r:embed="rId8"/>
          <a:srcRect/>
          <a:stretch>
            <a:fillRect/>
          </a:stretch>
        </p:blipFill>
        <p:spPr>
          <a:xfrm>
            <a:off x="1396965" y="1193770"/>
            <a:ext cx="406390" cy="406390"/>
          </a:xfrm>
          <a:prstGeom prst="rect">
            <a:avLst/>
          </a:prstGeom>
        </p:spPr>
      </p:pic>
      <p:sp>
        <p:nvSpPr>
          <p:cNvPr id="15" name="Text 2"/>
          <p:cNvSpPr/>
          <p:nvPr/>
        </p:nvSpPr>
        <p:spPr>
          <a:xfrm>
            <a:off x="1396965" y="1193770"/>
            <a:ext cx="406390" cy="406390"/>
          </a:xfrm>
          <a:prstGeom prst="rect">
            <a:avLst/>
          </a:prstGeom>
          <a:noFill/>
        </p:spPr>
        <p:txBody>
          <a:bodyPr wrap="square" lIns="0" tIns="0" rIns="0" bIns="0" rtlCol="0" anchor="t"/>
          <a:lstStyle/>
          <a:p>
            <a:pPr marL="0" indent="0" algn="ctr">
              <a:lnSpc>
                <a:spcPct val="100000"/>
              </a:lnSpc>
              <a:buNone/>
            </a:pPr>
            <a:r>
              <a:rPr lang="en-US" sz="1100" b="1" dirty="0">
                <a:solidFill>
                  <a:srgbClr val="FFFFFF"/>
                </a:solidFill>
                <a:latin typeface="Segoe Print" panose="02000600000000000000" pitchFamily="34" charset="0"/>
                <a:ea typeface="Segoe Print" panose="02000600000000000000" pitchFamily="34" charset="-122"/>
                <a:cs typeface="Segoe Print" panose="02000600000000000000" pitchFamily="34" charset="-120"/>
              </a:rPr>
              <a:t>1</a:t>
            </a:r>
            <a:endParaRPr lang="en-US" sz="1100" dirty="0"/>
          </a:p>
        </p:txBody>
      </p:sp>
      <p:sp>
        <p:nvSpPr>
          <p:cNvPr id="16" name="Text 3"/>
          <p:cNvSpPr/>
          <p:nvPr/>
        </p:nvSpPr>
        <p:spPr>
          <a:xfrm>
            <a:off x="2108147" y="1142971"/>
            <a:ext cx="8051599" cy="609585"/>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Multi-Stage Build Process
</a:t>
            </a:r>
            <a:endParaRPr lang="en-US" sz="1400" dirty="0"/>
          </a:p>
        </p:txBody>
      </p:sp>
      <p:sp>
        <p:nvSpPr>
          <p:cNvPr id="17" name="Text 4"/>
          <p:cNvSpPr/>
          <p:nvPr/>
        </p:nvSpPr>
        <p:spPr>
          <a:xfrm>
            <a:off x="2108147" y="1498563"/>
            <a:ext cx="8051599" cy="101597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Utilized a multi-stage Docker build for the frontend, optimizing image size by separating build and runtime environments, resulting in a 40% smaller final image.
</a:t>
            </a:r>
            <a:endParaRPr lang="en-US" sz="1300" dirty="0"/>
          </a:p>
        </p:txBody>
      </p:sp>
      <p:pic>
        <p:nvPicPr>
          <p:cNvPr id="18" name="Image 11" descr="preencoded.png"/>
          <p:cNvPicPr>
            <a:picLocks noChangeAspect="1"/>
          </p:cNvPicPr>
          <p:nvPr/>
        </p:nvPicPr>
        <p:blipFill>
          <a:blip r:embed="rId8"/>
          <a:srcRect/>
          <a:stretch>
            <a:fillRect/>
          </a:stretch>
        </p:blipFill>
        <p:spPr>
          <a:xfrm>
            <a:off x="1396965" y="2463738"/>
            <a:ext cx="406390" cy="406390"/>
          </a:xfrm>
          <a:prstGeom prst="rect">
            <a:avLst/>
          </a:prstGeom>
        </p:spPr>
      </p:pic>
      <p:sp>
        <p:nvSpPr>
          <p:cNvPr id="19" name="Text 5"/>
          <p:cNvSpPr/>
          <p:nvPr/>
        </p:nvSpPr>
        <p:spPr>
          <a:xfrm>
            <a:off x="1396965" y="2463738"/>
            <a:ext cx="406390" cy="406390"/>
          </a:xfrm>
          <a:prstGeom prst="rect">
            <a:avLst/>
          </a:prstGeom>
          <a:noFill/>
        </p:spPr>
        <p:txBody>
          <a:bodyPr wrap="square" lIns="0" tIns="0" rIns="0" bIns="0" rtlCol="0" anchor="t"/>
          <a:lstStyle/>
          <a:p>
            <a:pPr marL="0" indent="0" algn="ctr">
              <a:lnSpc>
                <a:spcPct val="100000"/>
              </a:lnSpc>
              <a:buNone/>
            </a:pPr>
            <a:r>
              <a:rPr lang="en-US" sz="1100" b="1" dirty="0">
                <a:solidFill>
                  <a:srgbClr val="FFFFFF"/>
                </a:solidFill>
                <a:latin typeface="Segoe Print" panose="02000600000000000000" pitchFamily="34" charset="0"/>
                <a:ea typeface="Segoe Print" panose="02000600000000000000" pitchFamily="34" charset="-122"/>
                <a:cs typeface="Segoe Print" panose="02000600000000000000" pitchFamily="34" charset="-120"/>
              </a:rPr>
              <a:t>2</a:t>
            </a:r>
            <a:endParaRPr lang="en-US" sz="1100" dirty="0"/>
          </a:p>
        </p:txBody>
      </p:sp>
      <p:sp>
        <p:nvSpPr>
          <p:cNvPr id="20" name="Text 6"/>
          <p:cNvSpPr/>
          <p:nvPr/>
        </p:nvSpPr>
        <p:spPr>
          <a:xfrm>
            <a:off x="2108147" y="2412940"/>
            <a:ext cx="8051599" cy="609585"/>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Backend Image Optimization
</a:t>
            </a:r>
            <a:endParaRPr lang="en-US" sz="1400" dirty="0"/>
          </a:p>
        </p:txBody>
      </p:sp>
      <p:sp>
        <p:nvSpPr>
          <p:cNvPr id="21" name="Text 7"/>
          <p:cNvSpPr/>
          <p:nvPr/>
        </p:nvSpPr>
        <p:spPr>
          <a:xfrm>
            <a:off x="2108147" y="2768531"/>
            <a:ext cx="8051599" cy="101597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The backend Docker image is based on Node Alpine, ensuring lightweight performance with a reduced footprint, improving startup time by approximately 30%.
</a:t>
            </a:r>
            <a:endParaRPr lang="en-US" sz="1300" dirty="0"/>
          </a:p>
        </p:txBody>
      </p:sp>
      <p:pic>
        <p:nvPicPr>
          <p:cNvPr id="22" name="Image 12" descr="preencoded.png"/>
          <p:cNvPicPr>
            <a:picLocks noChangeAspect="1"/>
          </p:cNvPicPr>
          <p:nvPr/>
        </p:nvPicPr>
        <p:blipFill>
          <a:blip r:embed="rId8"/>
          <a:srcRect/>
          <a:stretch>
            <a:fillRect/>
          </a:stretch>
        </p:blipFill>
        <p:spPr>
          <a:xfrm>
            <a:off x="1396965" y="3733707"/>
            <a:ext cx="406390" cy="406390"/>
          </a:xfrm>
          <a:prstGeom prst="rect">
            <a:avLst/>
          </a:prstGeom>
        </p:spPr>
      </p:pic>
      <p:sp>
        <p:nvSpPr>
          <p:cNvPr id="23" name="Text 8"/>
          <p:cNvSpPr/>
          <p:nvPr/>
        </p:nvSpPr>
        <p:spPr>
          <a:xfrm>
            <a:off x="1396965" y="3733707"/>
            <a:ext cx="406390" cy="406390"/>
          </a:xfrm>
          <a:prstGeom prst="rect">
            <a:avLst/>
          </a:prstGeom>
          <a:noFill/>
        </p:spPr>
        <p:txBody>
          <a:bodyPr wrap="square" lIns="0" tIns="0" rIns="0" bIns="0" rtlCol="0" anchor="t"/>
          <a:lstStyle/>
          <a:p>
            <a:pPr marL="0" indent="0" algn="ctr">
              <a:lnSpc>
                <a:spcPct val="100000"/>
              </a:lnSpc>
              <a:buNone/>
            </a:pPr>
            <a:r>
              <a:rPr lang="en-US" sz="1100" b="1" dirty="0">
                <a:solidFill>
                  <a:srgbClr val="FFFFFF"/>
                </a:solidFill>
                <a:latin typeface="Segoe Print" panose="02000600000000000000" pitchFamily="34" charset="0"/>
                <a:ea typeface="Segoe Print" panose="02000600000000000000" pitchFamily="34" charset="-122"/>
                <a:cs typeface="Segoe Print" panose="02000600000000000000" pitchFamily="34" charset="-120"/>
              </a:rPr>
              <a:t>3</a:t>
            </a:r>
            <a:endParaRPr lang="en-US" sz="1100" dirty="0"/>
          </a:p>
        </p:txBody>
      </p:sp>
      <p:sp>
        <p:nvSpPr>
          <p:cNvPr id="24" name="Text 9"/>
          <p:cNvSpPr/>
          <p:nvPr/>
        </p:nvSpPr>
        <p:spPr>
          <a:xfrm>
            <a:off x="2108147" y="3682908"/>
            <a:ext cx="8051599" cy="609585"/>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Service Management with Docker Compose
</a:t>
            </a:r>
            <a:endParaRPr lang="en-US" sz="1400" dirty="0"/>
          </a:p>
        </p:txBody>
      </p:sp>
      <p:sp>
        <p:nvSpPr>
          <p:cNvPr id="25" name="Text 10"/>
          <p:cNvSpPr/>
          <p:nvPr/>
        </p:nvSpPr>
        <p:spPr>
          <a:xfrm>
            <a:off x="2108147" y="4038499"/>
            <a:ext cx="8051599" cy="101597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Docker Compose orchestrates services, defining port mappings for frontend and backend, facilitating seamless communication and reducing configuration complexity.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435064" y="330192"/>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Kubernetes Deployment Overview</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Text 1"/>
          <p:cNvSpPr/>
          <p:nvPr/>
        </p:nvSpPr>
        <p:spPr>
          <a:xfrm>
            <a:off x="761981" y="1219170"/>
            <a:ext cx="355591" cy="396230"/>
          </a:xfrm>
          <a:prstGeom prst="rect">
            <a:avLst/>
          </a:prstGeom>
          <a:noFill/>
        </p:spPr>
        <p:txBody>
          <a:bodyPr wrap="square" lIns="0" tIns="0" rIns="0" bIns="0" rtlCol="0" anchor="t"/>
          <a:lstStyle/>
          <a:p>
            <a:pPr marL="0" indent="0" algn="ctr">
              <a:lnSpc>
                <a:spcPct val="130000"/>
              </a:lnSpc>
              <a:buNone/>
            </a:pPr>
            <a:r>
              <a:rPr lang="en-US" sz="2200" b="1" dirty="0">
                <a:solidFill>
                  <a:srgbClr val="FF6B9D"/>
                </a:solidFill>
                <a:latin typeface="Segoe Print" panose="02000600000000000000" pitchFamily="34" charset="0"/>
                <a:ea typeface="Segoe Print" panose="02000600000000000000" pitchFamily="34" charset="-122"/>
                <a:cs typeface="Segoe Print" panose="02000600000000000000" pitchFamily="34" charset="-120"/>
              </a:rPr>
              <a:t>✓</a:t>
            </a:r>
            <a:endParaRPr lang="en-US" sz="2200" dirty="0"/>
          </a:p>
        </p:txBody>
      </p:sp>
      <p:sp>
        <p:nvSpPr>
          <p:cNvPr id="14" name="Text 2"/>
          <p:cNvSpPr/>
          <p:nvPr/>
        </p:nvSpPr>
        <p:spPr>
          <a:xfrm>
            <a:off x="1269968" y="1219170"/>
            <a:ext cx="9080273" cy="380990"/>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K8s Resource Management
</a:t>
            </a:r>
            <a:endParaRPr lang="en-US" sz="1400" dirty="0"/>
          </a:p>
        </p:txBody>
      </p:sp>
      <p:sp>
        <p:nvSpPr>
          <p:cNvPr id="15" name="Text 3"/>
          <p:cNvSpPr/>
          <p:nvPr/>
        </p:nvSpPr>
        <p:spPr>
          <a:xfrm>
            <a:off x="1269968" y="1625559"/>
            <a:ext cx="9080273" cy="1206470"/>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Utilize `configmap.yaml` for environment variables and `secret.yaml` for sensitive data like `MONGO_URI`, ensuring secure and efficient configuration management.
</a:t>
            </a:r>
            <a:endParaRPr lang="en-US" sz="1300" dirty="0"/>
          </a:p>
        </p:txBody>
      </p:sp>
      <p:sp>
        <p:nvSpPr>
          <p:cNvPr id="16" name="Text 4"/>
          <p:cNvSpPr/>
          <p:nvPr/>
        </p:nvSpPr>
        <p:spPr>
          <a:xfrm>
            <a:off x="761981" y="2870128"/>
            <a:ext cx="355591" cy="396230"/>
          </a:xfrm>
          <a:prstGeom prst="rect">
            <a:avLst/>
          </a:prstGeom>
          <a:noFill/>
        </p:spPr>
        <p:txBody>
          <a:bodyPr wrap="square" lIns="0" tIns="0" rIns="0" bIns="0" rtlCol="0" anchor="t"/>
          <a:lstStyle/>
          <a:p>
            <a:pPr marL="0" indent="0" algn="ctr">
              <a:lnSpc>
                <a:spcPct val="130000"/>
              </a:lnSpc>
              <a:buNone/>
            </a:pPr>
            <a:r>
              <a:rPr lang="en-US" sz="2200" b="1" dirty="0">
                <a:solidFill>
                  <a:srgbClr val="FF6B9D"/>
                </a:solidFill>
                <a:latin typeface="Segoe Print" panose="02000600000000000000" pitchFamily="34" charset="0"/>
                <a:ea typeface="Segoe Print" panose="02000600000000000000" pitchFamily="34" charset="-122"/>
                <a:cs typeface="Segoe Print" panose="02000600000000000000" pitchFamily="34" charset="-120"/>
              </a:rPr>
              <a:t>✓</a:t>
            </a:r>
            <a:endParaRPr lang="en-US" sz="2200" dirty="0"/>
          </a:p>
        </p:txBody>
      </p:sp>
      <p:sp>
        <p:nvSpPr>
          <p:cNvPr id="17" name="Text 5"/>
          <p:cNvSpPr/>
          <p:nvPr/>
        </p:nvSpPr>
        <p:spPr>
          <a:xfrm>
            <a:off x="1269968" y="2870128"/>
            <a:ext cx="9080273" cy="380990"/>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Deployment Files
</a:t>
            </a:r>
            <a:endParaRPr lang="en-US" sz="1400" dirty="0"/>
          </a:p>
        </p:txBody>
      </p:sp>
      <p:sp>
        <p:nvSpPr>
          <p:cNvPr id="18" name="Text 6"/>
          <p:cNvSpPr/>
          <p:nvPr/>
        </p:nvSpPr>
        <p:spPr>
          <a:xfrm>
            <a:off x="1269968" y="3276518"/>
            <a:ext cx="9080273" cy="1206470"/>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Define `backend-deployment.yaml` and `frontend-deployment.yaml` to manage service deployments, ensuring seamless scaling and updates for both frontend and backend.
</a:t>
            </a:r>
            <a:endParaRPr lang="en-US" sz="1300" dirty="0"/>
          </a:p>
        </p:txBody>
      </p:sp>
      <p:sp>
        <p:nvSpPr>
          <p:cNvPr id="19" name="Text 7"/>
          <p:cNvSpPr/>
          <p:nvPr/>
        </p:nvSpPr>
        <p:spPr>
          <a:xfrm>
            <a:off x="761981" y="4521087"/>
            <a:ext cx="355591" cy="396230"/>
          </a:xfrm>
          <a:prstGeom prst="rect">
            <a:avLst/>
          </a:prstGeom>
          <a:noFill/>
        </p:spPr>
        <p:txBody>
          <a:bodyPr wrap="square" lIns="0" tIns="0" rIns="0" bIns="0" rtlCol="0" anchor="t"/>
          <a:lstStyle/>
          <a:p>
            <a:pPr marL="0" indent="0" algn="ctr">
              <a:lnSpc>
                <a:spcPct val="130000"/>
              </a:lnSpc>
              <a:buNone/>
            </a:pPr>
            <a:r>
              <a:rPr lang="en-US" sz="2200" b="1" dirty="0">
                <a:solidFill>
                  <a:srgbClr val="FF6B9D"/>
                </a:solidFill>
                <a:latin typeface="Segoe Print" panose="02000600000000000000" pitchFamily="34" charset="0"/>
                <a:ea typeface="Segoe Print" panose="02000600000000000000" pitchFamily="34" charset="-122"/>
                <a:cs typeface="Segoe Print" panose="02000600000000000000" pitchFamily="34" charset="-120"/>
              </a:rPr>
              <a:t>✓</a:t>
            </a:r>
            <a:endParaRPr lang="en-US" sz="2200" dirty="0"/>
          </a:p>
        </p:txBody>
      </p:sp>
      <p:sp>
        <p:nvSpPr>
          <p:cNvPr id="20" name="Text 8"/>
          <p:cNvSpPr/>
          <p:nvPr/>
        </p:nvSpPr>
        <p:spPr>
          <a:xfrm>
            <a:off x="1269968" y="4521087"/>
            <a:ext cx="9080273" cy="380990"/>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Ingress Configuration
</a:t>
            </a:r>
            <a:endParaRPr lang="en-US" sz="1400" dirty="0"/>
          </a:p>
        </p:txBody>
      </p:sp>
      <p:sp>
        <p:nvSpPr>
          <p:cNvPr id="21" name="Text 9"/>
          <p:cNvSpPr/>
          <p:nvPr/>
        </p:nvSpPr>
        <p:spPr>
          <a:xfrm>
            <a:off x="1269968" y="4927477"/>
            <a:ext cx="9080273" cy="1206470"/>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Implement `ingress.yaml` for domain-based routing, directing traffic to the appropriate services based on URL paths, enhancing user experience and accessibility.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8" name="Image 6"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9" name="Text 0"/>
          <p:cNvSpPr/>
          <p:nvPr/>
        </p:nvSpPr>
        <p:spPr>
          <a:xfrm>
            <a:off x="1523962" y="444489"/>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How to Deploy the Recipe Catalog Application</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0" name="Text 1"/>
          <p:cNvSpPr/>
          <p:nvPr/>
        </p:nvSpPr>
        <p:spPr>
          <a:xfrm>
            <a:off x="761981" y="1671278"/>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1. Run Docker Compose
</a:t>
            </a:r>
            <a:endParaRPr lang="en-US" sz="1400" dirty="0"/>
          </a:p>
        </p:txBody>
      </p:sp>
      <p:sp>
        <p:nvSpPr>
          <p:cNvPr id="11" name="Text 2"/>
          <p:cNvSpPr/>
          <p:nvPr/>
        </p:nvSpPr>
        <p:spPr>
          <a:xfrm>
            <a:off x="761981" y="2052269"/>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Execute the command `docker compose up --build -d` in your terminal to build and start the application locally.
</a:t>
            </a:r>
            <a:endParaRPr lang="en-US" sz="1300" dirty="0"/>
          </a:p>
        </p:txBody>
      </p:sp>
      <p:sp>
        <p:nvSpPr>
          <p:cNvPr id="12" name="Text 3"/>
          <p:cNvSpPr/>
          <p:nvPr/>
        </p:nvSpPr>
        <p:spPr>
          <a:xfrm>
            <a:off x="761981" y="2522157"/>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2. Access the Application
</a:t>
            </a:r>
            <a:endParaRPr lang="en-US" sz="1400" dirty="0"/>
          </a:p>
        </p:txBody>
      </p:sp>
      <p:sp>
        <p:nvSpPr>
          <p:cNvPr id="13" name="Text 4"/>
          <p:cNvSpPr/>
          <p:nvPr/>
        </p:nvSpPr>
        <p:spPr>
          <a:xfrm>
            <a:off x="761981" y="2903147"/>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Open your web browser and navigate to `http://localhost` to view the frontend, and `http://localhost:5000` to access the API.
</a:t>
            </a:r>
            <a:endParaRPr lang="en-US" sz="1300" dirty="0"/>
          </a:p>
        </p:txBody>
      </p:sp>
      <p:sp>
        <p:nvSpPr>
          <p:cNvPr id="14" name="Text 5"/>
          <p:cNvSpPr/>
          <p:nvPr/>
        </p:nvSpPr>
        <p:spPr>
          <a:xfrm>
            <a:off x="761981" y="3639729"/>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3. Apply Kubernetes Configurations
</a:t>
            </a:r>
            <a:endParaRPr lang="en-US" sz="1400" dirty="0"/>
          </a:p>
        </p:txBody>
      </p:sp>
      <p:sp>
        <p:nvSpPr>
          <p:cNvPr id="15" name="Text 6"/>
          <p:cNvSpPr/>
          <p:nvPr/>
        </p:nvSpPr>
        <p:spPr>
          <a:xfrm>
            <a:off x="761981" y="4020719"/>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Use the command `kubectl apply -f k8s/configmap.yaml`, followed by the other configuration files to deploy the application on Kubernetes.
</a:t>
            </a:r>
            <a:endParaRPr lang="en-US" sz="1300" dirty="0"/>
          </a:p>
        </p:txBody>
      </p:sp>
      <p:sp>
        <p:nvSpPr>
          <p:cNvPr id="16" name="Text 7"/>
          <p:cNvSpPr/>
          <p:nvPr/>
        </p:nvSpPr>
        <p:spPr>
          <a:xfrm>
            <a:off x="761981" y="4757301"/>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4. Validate Deployment
</a:t>
            </a:r>
            <a:endParaRPr lang="en-US" sz="1400" dirty="0"/>
          </a:p>
        </p:txBody>
      </p:sp>
      <p:sp>
        <p:nvSpPr>
          <p:cNvPr id="17" name="Text 8"/>
          <p:cNvSpPr/>
          <p:nvPr/>
        </p:nvSpPr>
        <p:spPr>
          <a:xfrm>
            <a:off x="761981" y="5138292"/>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Run `kubectl get pods,svc,ingress` to check the status of your deployed services and ensure everything is running smoothly.
</a:t>
            </a:r>
            <a:endParaRPr lang="en-US" sz="1300" dirty="0"/>
          </a:p>
        </p:txBody>
      </p:sp>
      <p:sp>
        <p:nvSpPr>
          <p:cNvPr id="18" name="Text 9"/>
          <p:cNvSpPr/>
          <p:nvPr/>
        </p:nvSpPr>
        <p:spPr>
          <a:xfrm>
            <a:off x="761981" y="5874873"/>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5. Check Logs for Errors
</a:t>
            </a:r>
            <a:endParaRPr lang="en-US" sz="1400" dirty="0"/>
          </a:p>
        </p:txBody>
      </p:sp>
      <p:sp>
        <p:nvSpPr>
          <p:cNvPr id="19" name="Text 10"/>
          <p:cNvSpPr/>
          <p:nvPr/>
        </p:nvSpPr>
        <p:spPr>
          <a:xfrm>
            <a:off x="761981" y="6255864"/>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Use `kubectl logs -l app=recipe-backend` and `kubectl logs -l app=recipe-frontend` to view logs and troubleshoot any issues.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523962" y="330192"/>
            <a:ext cx="9905752"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Kubernetes Deployment Overview</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Shape 1"/>
          <p:cNvSpPr/>
          <p:nvPr/>
        </p:nvSpPr>
        <p:spPr>
          <a:xfrm>
            <a:off x="761981" y="1607780"/>
            <a:ext cx="3276518" cy="3535720"/>
          </a:xfrm>
          <a:prstGeom prst="rect">
            <a:avLst/>
          </a:prstGeom>
          <a:noFill/>
        </p:spPr>
      </p:sp>
      <p:sp>
        <p:nvSpPr>
          <p:cNvPr id="14" name="Text 2"/>
          <p:cNvSpPr/>
          <p:nvPr/>
        </p:nvSpPr>
        <p:spPr>
          <a:xfrm>
            <a:off x="3327317"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1
</a:t>
            </a:r>
            <a:endParaRPr lang="en-US" sz="2500" dirty="0"/>
          </a:p>
        </p:txBody>
      </p:sp>
      <p:sp>
        <p:nvSpPr>
          <p:cNvPr id="15" name="Text 3"/>
          <p:cNvSpPr/>
          <p:nvPr/>
        </p:nvSpPr>
        <p:spPr>
          <a:xfrm>
            <a:off x="1066773"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K8s Resource Files
</a:t>
            </a:r>
            <a:endParaRPr lang="en-US" sz="1400" dirty="0"/>
          </a:p>
        </p:txBody>
      </p:sp>
      <p:sp>
        <p:nvSpPr>
          <p:cNvPr id="16" name="Text 4"/>
          <p:cNvSpPr/>
          <p:nvPr/>
        </p:nvSpPr>
        <p:spPr>
          <a:xfrm>
            <a:off x="1066773" y="3385735"/>
            <a:ext cx="2666933" cy="1747476"/>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Utilized `configmap.yaml` for environment variables and `secret.yaml` for sensitive data, ensuring secure and efficient configuration management.
</a:t>
            </a:r>
            <a:endParaRPr lang="en-US" sz="1300" dirty="0"/>
          </a:p>
        </p:txBody>
      </p:sp>
      <p:sp>
        <p:nvSpPr>
          <p:cNvPr id="17" name="Shape 5"/>
          <p:cNvSpPr/>
          <p:nvPr/>
        </p:nvSpPr>
        <p:spPr>
          <a:xfrm>
            <a:off x="4457589" y="1607780"/>
            <a:ext cx="3276518" cy="3535720"/>
          </a:xfrm>
          <a:prstGeom prst="rect">
            <a:avLst/>
          </a:prstGeom>
          <a:noFill/>
        </p:spPr>
      </p:sp>
      <p:sp>
        <p:nvSpPr>
          <p:cNvPr id="18" name="Text 6"/>
          <p:cNvSpPr/>
          <p:nvPr/>
        </p:nvSpPr>
        <p:spPr>
          <a:xfrm>
            <a:off x="7022924"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2
</a:t>
            </a:r>
            <a:endParaRPr lang="en-US" sz="2500" dirty="0"/>
          </a:p>
        </p:txBody>
      </p:sp>
      <p:sp>
        <p:nvSpPr>
          <p:cNvPr id="19" name="Text 7"/>
          <p:cNvSpPr/>
          <p:nvPr/>
        </p:nvSpPr>
        <p:spPr>
          <a:xfrm>
            <a:off x="4762381"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Deployment and Services
</a:t>
            </a:r>
            <a:endParaRPr lang="en-US" sz="1400" dirty="0"/>
          </a:p>
        </p:txBody>
      </p:sp>
      <p:sp>
        <p:nvSpPr>
          <p:cNvPr id="20" name="Text 8"/>
          <p:cNvSpPr/>
          <p:nvPr/>
        </p:nvSpPr>
        <p:spPr>
          <a:xfrm>
            <a:off x="4762381" y="3385735"/>
            <a:ext cx="2666933" cy="1996390"/>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Created `backend-deployment.yaml` and `frontend-deployment.yaml` to manage application instances, along with corresponding services for internal communication.
</a:t>
            </a:r>
            <a:endParaRPr lang="en-US" sz="1300" dirty="0"/>
          </a:p>
        </p:txBody>
      </p:sp>
      <p:sp>
        <p:nvSpPr>
          <p:cNvPr id="21" name="Shape 9"/>
          <p:cNvSpPr/>
          <p:nvPr/>
        </p:nvSpPr>
        <p:spPr>
          <a:xfrm>
            <a:off x="8153196" y="1607780"/>
            <a:ext cx="990804" cy="3535720"/>
          </a:xfrm>
          <a:prstGeom prst="rect">
            <a:avLst/>
          </a:prstGeom>
          <a:noFill/>
        </p:spPr>
      </p:sp>
      <p:sp>
        <p:nvSpPr>
          <p:cNvPr id="22" name="Text 10"/>
          <p:cNvSpPr/>
          <p:nvPr/>
        </p:nvSpPr>
        <p:spPr>
          <a:xfrm>
            <a:off x="10718532" y="1760176"/>
            <a:ext cx="609585" cy="444489"/>
          </a:xfrm>
          <a:prstGeom prst="rect">
            <a:avLst/>
          </a:prstGeom>
          <a:noFill/>
        </p:spPr>
        <p:txBody>
          <a:bodyPr wrap="square" lIns="0" tIns="0" rIns="0" bIns="0" rtlCol="0" anchor="t"/>
          <a:lstStyle/>
          <a:p>
            <a:pPr marL="0" indent="0" algn="r">
              <a:lnSpc>
                <a:spcPct val="100000"/>
              </a:lnSpc>
              <a:buNone/>
            </a:pPr>
            <a:r>
              <a:rPr lang="en-US" sz="2500" dirty="0">
                <a:solidFill>
                  <a:srgbClr val="FF6B9D"/>
                </a:solidFill>
                <a:latin typeface="Calibri" panose="020F0502020204030204" pitchFamily="34" charset="0"/>
                <a:ea typeface="Calibri" panose="020F0502020204030204" pitchFamily="34" charset="-122"/>
                <a:cs typeface="Calibri" panose="020F0502020204030204" pitchFamily="34" charset="-120"/>
              </a:rPr>
              <a:t>3
</a:t>
            </a:r>
            <a:endParaRPr lang="en-US" sz="2500" dirty="0"/>
          </a:p>
        </p:txBody>
      </p:sp>
      <p:sp>
        <p:nvSpPr>
          <p:cNvPr id="23" name="Text 11"/>
          <p:cNvSpPr/>
          <p:nvPr/>
        </p:nvSpPr>
        <p:spPr>
          <a:xfrm>
            <a:off x="8457989" y="2433259"/>
            <a:ext cx="2666933" cy="1015975"/>
          </a:xfrm>
          <a:prstGeom prst="rect">
            <a:avLst/>
          </a:prstGeom>
          <a:noFill/>
        </p:spPr>
        <p:txBody>
          <a:bodyPr wrap="square" lIns="0" tIns="0" rIns="0" bIns="0" rtlCol="0" anchor="t"/>
          <a:lstStyle/>
          <a:p>
            <a:pPr marL="0" indent="0" algn="l">
              <a:lnSpc>
                <a:spcPct val="125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Ingress Configuration
</a:t>
            </a:r>
            <a:endParaRPr lang="en-US" sz="1400" dirty="0"/>
          </a:p>
        </p:txBody>
      </p:sp>
      <p:sp>
        <p:nvSpPr>
          <p:cNvPr id="24" name="Text 12"/>
          <p:cNvSpPr/>
          <p:nvPr/>
        </p:nvSpPr>
        <p:spPr>
          <a:xfrm>
            <a:off x="8457989" y="3385735"/>
            <a:ext cx="2666933" cy="1996390"/>
          </a:xfrm>
          <a:prstGeom prst="rect">
            <a:avLst/>
          </a:prstGeom>
          <a:noFill/>
        </p:spPr>
        <p:txBody>
          <a:bodyPr wrap="square" lIns="0" tIns="0" rIns="0" bIns="0" rtlCol="0" anchor="t"/>
          <a:lstStyle/>
          <a:p>
            <a:pPr marL="0" indent="0" algn="l">
              <a:lnSpc>
                <a:spcPct val="14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Configured `ingress.yaml` for domain-based routing, directing traffic to the frontend and backend services, enhancing user accessibility and experience.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422364" y="330192"/>
            <a:ext cx="10032749" cy="673083"/>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Calibri" panose="020F0502020204030204" pitchFamily="34" charset="0"/>
                <a:ea typeface="Calibri" panose="020F0502020204030204" pitchFamily="34" charset="-122"/>
                <a:cs typeface="Calibri" panose="020F0502020204030204" pitchFamily="34" charset="-120"/>
              </a:rPr>
              <a:t>Kubernetes Deployment Insights</a:t>
            </a:r>
            <a:r>
              <a:rPr lang="en-US" sz="29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endParaRPr lang="en-US" sz="2900" dirty="0"/>
          </a:p>
        </p:txBody>
      </p:sp>
      <p:sp>
        <p:nvSpPr>
          <p:cNvPr id="13" name="Shape 1"/>
          <p:cNvSpPr/>
          <p:nvPr/>
        </p:nvSpPr>
        <p:spPr>
          <a:xfrm>
            <a:off x="761981" y="1600160"/>
            <a:ext cx="152396" cy="152396"/>
          </a:xfrm>
          <a:prstGeom prst="ellipse">
            <a:avLst/>
          </a:prstGeom>
          <a:solidFill>
            <a:srgbClr val="FF6B9D"/>
          </a:solidFill>
        </p:spPr>
      </p:sp>
      <p:sp>
        <p:nvSpPr>
          <p:cNvPr id="14" name="Text 2"/>
          <p:cNvSpPr/>
          <p:nvPr/>
        </p:nvSpPr>
        <p:spPr>
          <a:xfrm>
            <a:off x="1041374" y="1650959"/>
            <a:ext cx="4038499" cy="634984"/>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K8s Resource Management
</a:t>
            </a:r>
            <a:endParaRPr lang="en-US" sz="1400" dirty="0"/>
          </a:p>
        </p:txBody>
      </p:sp>
      <p:sp>
        <p:nvSpPr>
          <p:cNvPr id="15" name="Text 3"/>
          <p:cNvSpPr/>
          <p:nvPr/>
        </p:nvSpPr>
        <p:spPr>
          <a:xfrm>
            <a:off x="1041374" y="2412940"/>
            <a:ext cx="4038499" cy="139696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Utilized `configmap.yaml` for environment variables and `secret.yaml` for sensitive data, ensuring secure and efficient configuration management in Kubernetes.
</a:t>
            </a:r>
            <a:endParaRPr lang="en-US" sz="1300" dirty="0"/>
          </a:p>
        </p:txBody>
      </p:sp>
      <p:sp>
        <p:nvSpPr>
          <p:cNvPr id="16" name="Shape 4"/>
          <p:cNvSpPr/>
          <p:nvPr/>
        </p:nvSpPr>
        <p:spPr>
          <a:xfrm>
            <a:off x="5587860" y="1600160"/>
            <a:ext cx="152396" cy="152396"/>
          </a:xfrm>
          <a:prstGeom prst="ellipse">
            <a:avLst/>
          </a:prstGeom>
          <a:solidFill>
            <a:srgbClr val="FF6B9D"/>
          </a:solidFill>
        </p:spPr>
      </p:sp>
      <p:sp>
        <p:nvSpPr>
          <p:cNvPr id="17" name="Text 5"/>
          <p:cNvSpPr/>
          <p:nvPr/>
        </p:nvSpPr>
        <p:spPr>
          <a:xfrm>
            <a:off x="5867253" y="1650959"/>
            <a:ext cx="4038499" cy="634984"/>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Service Routing
</a:t>
            </a:r>
            <a:endParaRPr lang="en-US" sz="1400" dirty="0"/>
          </a:p>
        </p:txBody>
      </p:sp>
      <p:sp>
        <p:nvSpPr>
          <p:cNvPr id="18" name="Text 6"/>
          <p:cNvSpPr/>
          <p:nvPr/>
        </p:nvSpPr>
        <p:spPr>
          <a:xfrm>
            <a:off x="5867253" y="2412940"/>
            <a:ext cx="4038499" cy="139696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Configured ingress rules to route traffic effectively, directing `/` to the frontend service and `/api` to the backend service for seamless user experience.
</a:t>
            </a:r>
            <a:endParaRPr lang="en-US" sz="1300" dirty="0"/>
          </a:p>
        </p:txBody>
      </p:sp>
      <p:sp>
        <p:nvSpPr>
          <p:cNvPr id="19" name="Shape 7"/>
          <p:cNvSpPr/>
          <p:nvPr/>
        </p:nvSpPr>
        <p:spPr>
          <a:xfrm>
            <a:off x="761981" y="3886103"/>
            <a:ext cx="152396" cy="152396"/>
          </a:xfrm>
          <a:prstGeom prst="ellipse">
            <a:avLst/>
          </a:prstGeom>
          <a:solidFill>
            <a:srgbClr val="FF6B9D"/>
          </a:solidFill>
        </p:spPr>
      </p:sp>
      <p:sp>
        <p:nvSpPr>
          <p:cNvPr id="20" name="Text 8"/>
          <p:cNvSpPr/>
          <p:nvPr/>
        </p:nvSpPr>
        <p:spPr>
          <a:xfrm>
            <a:off x="1041374" y="3936902"/>
            <a:ext cx="4038499" cy="634984"/>
          </a:xfrm>
          <a:prstGeom prst="rect">
            <a:avLst/>
          </a:prstGeom>
          <a:noFill/>
        </p:spPr>
        <p:txBody>
          <a:bodyPr wrap="square" lIns="0" tIns="0" rIns="0" bIns="0" rtlCol="0" anchor="t"/>
          <a:lstStyle/>
          <a:p>
            <a:pPr marL="0" indent="0" algn="l">
              <a:lnSpc>
                <a:spcPct val="130000"/>
              </a:lnSpc>
              <a:buNone/>
            </a:pPr>
            <a:r>
              <a:rPr lang="en-US" sz="1400" b="1" dirty="0">
                <a:solidFill>
                  <a:srgbClr val="334155"/>
                </a:solidFill>
                <a:latin typeface="Segoe Print" panose="02000600000000000000" pitchFamily="34" charset="0"/>
                <a:ea typeface="Segoe Print" panose="02000600000000000000" pitchFamily="34" charset="-122"/>
                <a:cs typeface="Segoe Print" panose="02000600000000000000" pitchFamily="34" charset="-120"/>
              </a:rPr>
              <a:t>Deployment Automation
</a:t>
            </a:r>
            <a:endParaRPr lang="en-US" sz="1400" dirty="0"/>
          </a:p>
        </p:txBody>
      </p:sp>
      <p:sp>
        <p:nvSpPr>
          <p:cNvPr id="21" name="Text 9"/>
          <p:cNvSpPr/>
          <p:nvPr/>
        </p:nvSpPr>
        <p:spPr>
          <a:xfrm>
            <a:off x="1041374" y="4698883"/>
            <a:ext cx="4038499" cy="1396965"/>
          </a:xfrm>
          <a:prstGeom prst="rect">
            <a:avLst/>
          </a:prstGeom>
          <a:noFill/>
        </p:spPr>
        <p:txBody>
          <a:bodyPr wrap="square" lIns="0" tIns="0" rIns="0" bIns="0" rtlCol="0" anchor="t"/>
          <a:lstStyle/>
          <a:p>
            <a:pPr marL="0" indent="0" algn="l">
              <a:lnSpc>
                <a:spcPct val="130000"/>
              </a:lnSpc>
              <a:buNone/>
            </a:pPr>
            <a:r>
              <a:rPr lang="en-US" sz="1300" dirty="0">
                <a:solidFill>
                  <a:srgbClr val="64748B"/>
                </a:solidFill>
                <a:latin typeface="Segoe Print" panose="02000600000000000000" pitchFamily="34" charset="0"/>
                <a:ea typeface="Segoe Print" panose="02000600000000000000" pitchFamily="34" charset="-122"/>
                <a:cs typeface="Segoe Print" panose="02000600000000000000" pitchFamily="34" charset="-120"/>
              </a:rPr>
              <a:t>Automated deployment with `kubectl apply` commands, streamlining the process and reducing manual errors during the deployment of services.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9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3" name="Image 1" descr="preencoded.png"/>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0" y="0"/>
            <a:ext cx="12145975" cy="6812280"/>
          </a:xfrm>
          <a:prstGeom prst="rect">
            <a:avLst/>
          </a:prstGeom>
        </p:spPr>
      </p:pic>
      <p:pic>
        <p:nvPicPr>
          <p:cNvPr id="4" name="Image 2"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5" name="Image 3" descr="preencoded.png"/>
          <p:cNvPicPr>
            <a:picLocks noChangeAspect="1"/>
          </p:cNvPicPr>
          <p:nvPr/>
        </p:nvPicPr>
        <p:blipFill>
          <a:blip r:embed="rId4"/>
          <a:srcRect/>
          <a:stretch>
            <a:fillRect/>
          </a:stretch>
        </p:blipFill>
        <p:spPr>
          <a:xfrm>
            <a:off x="380990" y="0"/>
            <a:ext cx="38099" cy="5143500"/>
          </a:xfrm>
          <a:prstGeom prst="rect">
            <a:avLst/>
          </a:prstGeom>
        </p:spPr>
      </p:pic>
      <p:pic>
        <p:nvPicPr>
          <p:cNvPr id="6" name="Image 4"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7" name="Image 5" descr="preencoded.png"/>
          <p:cNvPicPr>
            <a:picLocks noChangeAspect="1"/>
          </p:cNvPicPr>
          <p:nvPr/>
        </p:nvPicPr>
        <p:blipFill>
          <a:blip r:embed="rId5"/>
          <a:srcRect/>
          <a:stretch>
            <a:fillRect/>
          </a:stretch>
        </p:blipFill>
        <p:spPr>
          <a:xfrm>
            <a:off x="1206470" y="444489"/>
            <a:ext cx="4063898" cy="444489"/>
          </a:xfrm>
          <a:prstGeom prst="rect">
            <a:avLst/>
          </a:prstGeom>
        </p:spPr>
      </p:pic>
      <p:pic>
        <p:nvPicPr>
          <p:cNvPr id="8" name="Image 6"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9" name="Image 7" descr="preencoded.png"/>
          <p:cNvPicPr>
            <a:picLocks noChangeAspect="1"/>
          </p:cNvPicPr>
          <p:nvPr/>
        </p:nvPicPr>
        <p:blipFill>
          <a:blip r:embed="rId6"/>
          <a:srcRect/>
          <a:stretch>
            <a:fillRect/>
          </a:stretch>
        </p:blipFill>
        <p:spPr>
          <a:xfrm>
            <a:off x="1269968" y="1269968"/>
            <a:ext cx="1777956" cy="101597"/>
          </a:xfrm>
          <a:prstGeom prst="rect">
            <a:avLst/>
          </a:prstGeom>
        </p:spPr>
      </p:pic>
      <p:pic>
        <p:nvPicPr>
          <p:cNvPr id="10" name="Image 8" descr="preencoded.png"/>
          <p:cNvPicPr>
            <a:picLocks noChangeAspect="1"/>
          </p:cNvPicPr>
          <p:nvPr/>
        </p:nvPicPr>
        <p:blipFill>
          <a:blip r:embed="rId7"/>
          <a:srcRect/>
          <a:stretch>
            <a:fillRect/>
          </a:stretch>
        </p:blipFill>
        <p:spPr>
          <a:xfrm>
            <a:off x="1079473" y="444489"/>
            <a:ext cx="304792" cy="304792"/>
          </a:xfrm>
          <a:prstGeom prst="rect">
            <a:avLst/>
          </a:prstGeom>
        </p:spPr>
      </p:pic>
      <p:pic>
        <p:nvPicPr>
          <p:cNvPr id="11" name="Image 9" descr="preencoded.png"/>
          <p:cNvPicPr>
            <a:picLocks noChangeAspect="1"/>
          </p:cNvPicPr>
          <p:nvPr/>
        </p:nvPicPr>
        <p:blipFill>
          <a:blip r:embed="rId7"/>
          <a:srcRect/>
          <a:stretch>
            <a:fillRect/>
          </a:stretch>
        </p:blipFill>
        <p:spPr>
          <a:xfrm>
            <a:off x="1079473" y="444489"/>
            <a:ext cx="304792" cy="304792"/>
          </a:xfrm>
          <a:prstGeom prst="rect">
            <a:avLst/>
          </a:prstGeom>
        </p:spPr>
      </p:pic>
      <p:sp>
        <p:nvSpPr>
          <p:cNvPr id="12" name="Text 0"/>
          <p:cNvSpPr/>
          <p:nvPr/>
        </p:nvSpPr>
        <p:spPr>
          <a:xfrm>
            <a:off x="1269968" y="380990"/>
            <a:ext cx="9651759" cy="634984"/>
          </a:xfrm>
          <a:prstGeom prst="rect">
            <a:avLst/>
          </a:prstGeom>
          <a:noFill/>
        </p:spPr>
        <p:txBody>
          <a:bodyPr wrap="square" lIns="0" tIns="0" rIns="0" bIns="0" rtlCol="0" anchor="t"/>
          <a:lstStyle/>
          <a:p>
            <a:pPr marL="0" indent="0" algn="l">
              <a:lnSpc>
                <a:spcPct val="120000"/>
              </a:lnSpc>
              <a:buNone/>
            </a:pPr>
            <a:r>
              <a:rPr lang="en-US" sz="2900" b="1" dirty="0">
                <a:solidFill>
                  <a:srgbClr val="1E293B"/>
                </a:solidFill>
                <a:latin typeface="Segoe Print" panose="02000600000000000000" pitchFamily="34" charset="0"/>
                <a:ea typeface="Segoe Print" panose="02000600000000000000" pitchFamily="34" charset="-122"/>
                <a:cs typeface="Segoe Print" panose="02000600000000000000" pitchFamily="34" charset="-120"/>
              </a:rPr>
              <a:t>Demo, Challenges, and Future Scope
</a:t>
            </a:r>
            <a:endParaRPr lang="en-US" sz="2900" dirty="0"/>
          </a:p>
        </p:txBody>
      </p:sp>
      <p:sp>
        <p:nvSpPr>
          <p:cNvPr id="13" name="Text 1"/>
          <p:cNvSpPr/>
          <p:nvPr/>
        </p:nvSpPr>
        <p:spPr>
          <a:xfrm>
            <a:off x="761981" y="1671278"/>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1. Live Demo Flow
</a:t>
            </a:r>
            <a:endParaRPr lang="en-US" sz="1400" dirty="0"/>
          </a:p>
        </p:txBody>
      </p:sp>
      <p:sp>
        <p:nvSpPr>
          <p:cNvPr id="14" name="Text 2"/>
          <p:cNvSpPr/>
          <p:nvPr/>
        </p:nvSpPr>
        <p:spPr>
          <a:xfrm>
            <a:off x="761981" y="2052269"/>
            <a:ext cx="10667733" cy="800080"/>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Demonstrate the app by creating, updating, favoriting, and deleting a recipe. Showcase the seamless user experience and intuitive UI design.
</a:t>
            </a:r>
            <a:endParaRPr lang="en-US" sz="1300" dirty="0"/>
          </a:p>
        </p:txBody>
      </p:sp>
      <p:sp>
        <p:nvSpPr>
          <p:cNvPr id="15" name="Text 3"/>
          <p:cNvSpPr/>
          <p:nvPr/>
        </p:nvSpPr>
        <p:spPr>
          <a:xfrm>
            <a:off x="761981" y="2941246"/>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2. Challenges Solved
</a:t>
            </a:r>
            <a:endParaRPr lang="en-US" sz="1400" dirty="0"/>
          </a:p>
        </p:txBody>
      </p:sp>
      <p:sp>
        <p:nvSpPr>
          <p:cNvPr id="16" name="Text 4"/>
          <p:cNvSpPr/>
          <p:nvPr/>
        </p:nvSpPr>
        <p:spPr>
          <a:xfrm>
            <a:off x="761981" y="3322237"/>
            <a:ext cx="10667733" cy="1066773"/>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Addressed API URL portability across Docker and Kubernetes, ensured Nginx routing consistency, and created comprehensive deployment documentation for reproducibility.
</a:t>
            </a:r>
            <a:endParaRPr lang="en-US" sz="1300" dirty="0"/>
          </a:p>
        </p:txBody>
      </p:sp>
      <p:sp>
        <p:nvSpPr>
          <p:cNvPr id="17" name="Text 5"/>
          <p:cNvSpPr/>
          <p:nvPr/>
        </p:nvSpPr>
        <p:spPr>
          <a:xfrm>
            <a:off x="761981" y="4211215"/>
            <a:ext cx="10667733" cy="380990"/>
          </a:xfrm>
          <a:prstGeom prst="rect">
            <a:avLst/>
          </a:prstGeom>
          <a:noFill/>
        </p:spPr>
        <p:txBody>
          <a:bodyPr wrap="square" lIns="0" tIns="0" rIns="0" bIns="0" rtlCol="0" anchor="t"/>
          <a:lstStyle/>
          <a:p>
            <a:pPr marL="0" indent="0" algn="l">
              <a:lnSpc>
                <a:spcPct val="120000"/>
              </a:lnSpc>
              <a:buNone/>
            </a:pPr>
            <a:r>
              <a:rPr lang="en-US" sz="1400" b="1" dirty="0">
                <a:solidFill>
                  <a:srgbClr val="334155"/>
                </a:solidFill>
                <a:latin typeface="Calibri" panose="020F0502020204030204" pitchFamily="34" charset="0"/>
                <a:ea typeface="Calibri" panose="020F0502020204030204" pitchFamily="34" charset="-122"/>
                <a:cs typeface="Calibri" panose="020F0502020204030204" pitchFamily="34" charset="-120"/>
              </a:rPr>
              <a:t>3. Future Enhancements
</a:t>
            </a:r>
            <a:endParaRPr lang="en-US" sz="1400" dirty="0"/>
          </a:p>
        </p:txBody>
      </p:sp>
      <p:sp>
        <p:nvSpPr>
          <p:cNvPr id="18" name="Text 6"/>
          <p:cNvSpPr/>
          <p:nvPr/>
        </p:nvSpPr>
        <p:spPr>
          <a:xfrm>
            <a:off x="761981" y="4592205"/>
            <a:ext cx="10667733" cy="1066773"/>
          </a:xfrm>
          <a:prstGeom prst="rect">
            <a:avLst/>
          </a:prstGeom>
          <a:noFill/>
        </p:spPr>
        <p:txBody>
          <a:bodyPr wrap="square" lIns="0" tIns="0" rIns="0" bIns="0" rtlCol="0" anchor="t"/>
          <a:lstStyle/>
          <a:p>
            <a:pPr marL="0" indent="0" algn="l">
              <a:lnSpc>
                <a:spcPct val="150000"/>
              </a:lnSpc>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Plan to implement user authentication, image uploads for recipes, CI/CD pipelines with GitHub Actions, and monitoring solutions like Prometheus and Grafana.
</a:t>
            </a:r>
            <a:endParaRPr lang="en-US" sz="1300" dirty="0"/>
          </a:p>
        </p:txBody>
      </p:sp>
    </p:spTree>
  </p:cSld>
  <p:clrMapOvr>
    <a:masterClrMapping/>
  </p:clrMapOvr>
</p:sld>
</file>

<file path=ppt/tags/tag1.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2.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3.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4.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5.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6.xml><?xml version="1.0" encoding="utf-8"?>
<p:tagLst xmlns:p="http://schemas.openxmlformats.org/presentationml/2006/main">
  <p:tag name="KSO_WM_DIAGRAM_VIRTUALLY_FRAME" val="{&quot;height&quot;:348.3913385826772,&quot;left&quot;:111.99716535433072,&quot;top&quot;:131.59669291338582,&quot;width&quot;:787.9803149606299}"/>
</p:tagLst>
</file>

<file path=ppt/tags/tag7.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8.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9.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0.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1.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2.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3.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4.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ags/tag15.xml><?xml version="1.0" encoding="utf-8"?>
<p:tagLst xmlns:p="http://schemas.openxmlformats.org/presentationml/2006/main">
  <p:tag name="KSO_WM_DIAGRAM_VIRTUALLY_FRAME" val="{&quot;height&quot;:285.19283464566934,&quot;left&quot;:42.497874015748025,&quot;top&quot;:139.69653543307086,&quot;width&quot;:807.979842519685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5898</Words>
  <Application>WPS Presentation</Application>
  <PresentationFormat>On-screen Show (16:9)</PresentationFormat>
  <Paragraphs>166</Paragraphs>
  <Slides>11</Slides>
  <Notes>12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11</vt:i4>
      </vt:variant>
    </vt:vector>
  </HeadingPairs>
  <TitlesOfParts>
    <vt:vector size="28" baseType="lpstr">
      <vt:lpstr>Arial</vt:lpstr>
      <vt:lpstr>SimSun</vt:lpstr>
      <vt:lpstr>Wingdings</vt:lpstr>
      <vt:lpstr>Arial</vt:lpstr>
      <vt:lpstr>Arial</vt:lpstr>
      <vt:lpstr>Comic Sans MS</vt:lpstr>
      <vt:lpstr>Comic Sans MS</vt:lpstr>
      <vt:lpstr>Comic Sans MS</vt:lpstr>
      <vt:lpstr>Segoe Print</vt:lpstr>
      <vt:lpstr>Segoe Print</vt:lpstr>
      <vt:lpstr>Segoe Print</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Utkarsh Pathak</cp:lastModifiedBy>
  <cp:revision>2</cp:revision>
  <dcterms:created xsi:type="dcterms:W3CDTF">2026-02-24T13:32:00Z</dcterms:created>
  <dcterms:modified xsi:type="dcterms:W3CDTF">2026-02-24T20:32:03Z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1E65690CA4F94DF3B7F5FE5D2C698F90_12</vt:lpwstr>
  </property>
  <property fmtid="{D5CDD505-2E9C-101B-9397-08002B2CF9AE}" pid="3" name="KSOProductBuildVer">
    <vt:lpwstr>1033-12.2.0.23196</vt:lpwstr>
  </property>
</Properties>
</file>